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14400" y="1371600"/>
            <a:ext cx="9144000" cy="914400"/>
          </a:xfrm>
          <a:prstGeom prst="rect">
            <a:avLst/>
          </a:prstGeom>
          <a:noFill/>
          <a:ln/>
        </p:spPr>
        <p:txBody>
          <a:bodyPr wrap="square" rtlCol="0" anchor="ctr"/>
          <a:lstStyle/>
          <a:p>
            <a:pPr algn="ctr" indent="0" marL="0">
              <a:buNone/>
            </a:pPr>
            <a:r>
              <a:rPr lang="en-US" sz="2800" b="1" dirty="0">
                <a:solidFill>
                  <a:srgbClr val="FFFFFF"/>
                </a:solidFill>
              </a:rPr>
              <a:t>Video Competitor Intelligence</a:t>
            </a:r>
            <a:endParaRPr lang="en-US" sz="2800" dirty="0"/>
          </a:p>
        </p:txBody>
      </p:sp>
      <p:sp>
        <p:nvSpPr>
          <p:cNvPr id="3" name="Text 1"/>
          <p:cNvSpPr/>
          <p:nvPr/>
        </p:nvSpPr>
        <p:spPr>
          <a:xfrm>
            <a:off x="914400" y="2743200"/>
            <a:ext cx="9144000" cy="457200"/>
          </a:xfrm>
          <a:prstGeom prst="rect">
            <a:avLst/>
          </a:prstGeom>
          <a:noFill/>
          <a:ln/>
        </p:spPr>
        <p:txBody>
          <a:bodyPr wrap="square" rtlCol="0" anchor="ctr"/>
          <a:lstStyle/>
          <a:p>
            <a:pPr algn="ctr" indent="0" marL="0">
              <a:buNone/>
            </a:pPr>
            <a:r>
              <a:rPr lang="en-US" sz="1600" dirty="0">
                <a:solidFill>
                  <a:srgbClr val="D1D5DB"/>
                </a:solidFill>
              </a:rPr>
              <a:t>Generated on 19/5/2026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9144000" cy="0"/>
          </a:xfrm>
          <a:prstGeom prst="rect">
            <a:avLst/>
          </a:prstGeom>
          <a:noFill/>
          <a:ln/>
        </p:spPr>
        <p:txBody>
          <a:bodyPr wrap="square" rtlCol="0" anchor="ctr"/>
          <a:lstStyle/>
          <a:p>
            <a:pPr indent="0" marL="0">
              <a:buNone/>
            </a:pPr>
            <a:r>
              <a:rPr lang="en-US" sz="2400" b="1" dirty="0">
                <a:solidFill>
                  <a:srgbClr val="0F172A"/>
                </a:solidFill>
              </a:rPr>
              <a:t>Executive Summary</a:t>
            </a:r>
            <a:endParaRPr lang="en-US" sz="2400" dirty="0"/>
          </a:p>
        </p:txBody>
      </p:sp>
      <p:sp>
        <p:nvSpPr>
          <p:cNvPr id="3" name="Text 1"/>
          <p:cNvSpPr/>
          <p:nvPr/>
        </p:nvSpPr>
        <p:spPr>
          <a:xfrm>
            <a:off x="731520" y="1371600"/>
            <a:ext cx="10058400" cy="1828800"/>
          </a:xfrm>
          <a:prstGeom prst="rect">
            <a:avLst/>
          </a:prstGeom>
          <a:noFill/>
          <a:ln/>
        </p:spPr>
        <p:txBody>
          <a:bodyPr wrap="square" rtlCol="0" anchor="ctr"/>
          <a:lstStyle/>
          <a:p>
            <a:pPr indent="0" marL="0">
              <a:buNone/>
            </a:pPr>
            <a:r>
              <a:rPr lang="en-US" sz="1800" dirty="0">
                <a:solidFill>
                  <a:srgbClr val="374151"/>
                </a:solidFill>
              </a:rPr>
              <a:t>
Tesla currently leads the competitive video marketing landscape based on engagement performance, subscriber strength, and audience reach.
The analysis shows clear differences in upload consistency, engagement quality, and content reach across competitors.
Brands with stronger engagement appear to benefit from better storytelling and audience-focused content strategies.
</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9144000" cy="0"/>
          </a:xfrm>
          <a:prstGeom prst="rect">
            <a:avLst/>
          </a:prstGeom>
          <a:noFill/>
          <a:ln/>
        </p:spPr>
        <p:txBody>
          <a:bodyPr wrap="square" rtlCol="0" anchor="ctr"/>
          <a:lstStyle/>
          <a:p>
            <a:pPr indent="0" marL="0">
              <a:buNone/>
            </a:pPr>
            <a:r>
              <a:rPr lang="en-US" sz="2400" b="1" dirty="0">
                <a:solidFill>
                  <a:srgbClr val="000000"/>
                </a:solidFill>
              </a:rPr>
              <a:t>Company Rankings</a:t>
            </a:r>
            <a:endParaRPr lang="en-US" sz="2400" dirty="0"/>
          </a:p>
        </p:txBody>
      </p:sp>
      <p:sp>
        <p:nvSpPr>
          <p:cNvPr id="3" name="Shape 1"/>
          <p:cNvSpPr/>
          <p:nvPr/>
        </p:nvSpPr>
        <p:spPr>
          <a:xfrm>
            <a:off x="731520" y="1371600"/>
            <a:ext cx="10058400" cy="731520"/>
          </a:xfrm>
          <a:prstGeom prst="roundRect">
            <a:avLst/>
          </a:prstGeom>
          <a:solidFill>
            <a:srgbClr val="DBEAFE"/>
          </a:solidFill>
          <a:ln/>
        </p:spPr>
      </p:sp>
      <p:sp>
        <p:nvSpPr>
          <p:cNvPr id="4" name="Text 2"/>
          <p:cNvSpPr/>
          <p:nvPr/>
        </p:nvSpPr>
        <p:spPr>
          <a:xfrm>
            <a:off x="914400" y="1554480"/>
            <a:ext cx="9144000" cy="0"/>
          </a:xfrm>
          <a:prstGeom prst="rect">
            <a:avLst/>
          </a:prstGeom>
          <a:noFill/>
          <a:ln/>
        </p:spPr>
        <p:txBody>
          <a:bodyPr wrap="square" rtlCol="0" anchor="ctr"/>
          <a:lstStyle/>
          <a:p>
            <a:pPr indent="0" marL="0">
              <a:buNone/>
            </a:pPr>
            <a:r>
              <a:rPr lang="en-US" sz="1800" b="1" dirty="0">
                <a:solidFill>
                  <a:srgbClr val="000000"/>
                </a:solidFill>
              </a:rPr>
              <a:t>#1 Tesla</a:t>
            </a:r>
            <a:endParaRPr lang="en-US" sz="1800" dirty="0"/>
          </a:p>
        </p:txBody>
      </p:sp>
      <p:sp>
        <p:nvSpPr>
          <p:cNvPr id="5" name="Text 3"/>
          <p:cNvSpPr/>
          <p:nvPr/>
        </p:nvSpPr>
        <p:spPr>
          <a:xfrm>
            <a:off x="7315200" y="1554480"/>
            <a:ext cx="9144000" cy="0"/>
          </a:xfrm>
          <a:prstGeom prst="rect">
            <a:avLst/>
          </a:prstGeom>
          <a:noFill/>
          <a:ln/>
        </p:spPr>
        <p:txBody>
          <a:bodyPr wrap="square" rtlCol="0" anchor="ctr"/>
          <a:lstStyle/>
          <a:p>
            <a:pPr indent="0" marL="0">
              <a:buNone/>
            </a:pPr>
            <a:r>
              <a:rPr lang="en-US" sz="1600" dirty="0">
                <a:solidFill>
                  <a:srgbClr val="2563EB"/>
                </a:solidFill>
              </a:rPr>
              <a:t>Score: 6,93,235</a:t>
            </a:r>
            <a:endParaRPr lang="en-US" sz="1600" dirty="0"/>
          </a:p>
        </p:txBody>
      </p:sp>
      <p:sp>
        <p:nvSpPr>
          <p:cNvPr id="6" name="Shape 4"/>
          <p:cNvSpPr/>
          <p:nvPr/>
        </p:nvSpPr>
        <p:spPr>
          <a:xfrm>
            <a:off x="731520" y="2286000"/>
            <a:ext cx="10058400" cy="731520"/>
          </a:xfrm>
          <a:prstGeom prst="roundRect">
            <a:avLst/>
          </a:prstGeom>
          <a:solidFill>
            <a:srgbClr val="F3F4F6"/>
          </a:solidFill>
          <a:ln/>
        </p:spPr>
      </p:sp>
      <p:sp>
        <p:nvSpPr>
          <p:cNvPr id="7" name="Text 5"/>
          <p:cNvSpPr/>
          <p:nvPr/>
        </p:nvSpPr>
        <p:spPr>
          <a:xfrm>
            <a:off x="914400" y="2468880"/>
            <a:ext cx="9144000" cy="0"/>
          </a:xfrm>
          <a:prstGeom prst="rect">
            <a:avLst/>
          </a:prstGeom>
          <a:noFill/>
          <a:ln/>
        </p:spPr>
        <p:txBody>
          <a:bodyPr wrap="square" rtlCol="0" anchor="ctr"/>
          <a:lstStyle/>
          <a:p>
            <a:pPr indent="0" marL="0">
              <a:buNone/>
            </a:pPr>
            <a:r>
              <a:rPr lang="en-US" sz="1800" b="1" dirty="0">
                <a:solidFill>
                  <a:srgbClr val="000000"/>
                </a:solidFill>
              </a:rPr>
              <a:t>#2 Ford</a:t>
            </a:r>
            <a:endParaRPr lang="en-US" sz="1800" dirty="0"/>
          </a:p>
        </p:txBody>
      </p:sp>
      <p:sp>
        <p:nvSpPr>
          <p:cNvPr id="8" name="Text 6"/>
          <p:cNvSpPr/>
          <p:nvPr/>
        </p:nvSpPr>
        <p:spPr>
          <a:xfrm>
            <a:off x="7315200" y="2468880"/>
            <a:ext cx="9144000" cy="0"/>
          </a:xfrm>
          <a:prstGeom prst="rect">
            <a:avLst/>
          </a:prstGeom>
          <a:noFill/>
          <a:ln/>
        </p:spPr>
        <p:txBody>
          <a:bodyPr wrap="square" rtlCol="0" anchor="ctr"/>
          <a:lstStyle/>
          <a:p>
            <a:pPr indent="0" marL="0">
              <a:buNone/>
            </a:pPr>
            <a:r>
              <a:rPr lang="en-US" sz="1600" dirty="0">
                <a:solidFill>
                  <a:srgbClr val="2563EB"/>
                </a:solidFill>
              </a:rPr>
              <a:t>Score: 4,88,236</a:t>
            </a:r>
            <a:endParaRPr lang="en-US" sz="1600" dirty="0"/>
          </a:p>
        </p:txBody>
      </p:sp>
      <p:sp>
        <p:nvSpPr>
          <p:cNvPr id="9" name="Shape 7"/>
          <p:cNvSpPr/>
          <p:nvPr/>
        </p:nvSpPr>
        <p:spPr>
          <a:xfrm>
            <a:off x="731520" y="3200400"/>
            <a:ext cx="10058400" cy="731520"/>
          </a:xfrm>
          <a:prstGeom prst="roundRect">
            <a:avLst/>
          </a:prstGeom>
          <a:solidFill>
            <a:srgbClr val="F3F4F6"/>
          </a:solidFill>
          <a:ln/>
        </p:spPr>
      </p:sp>
      <p:sp>
        <p:nvSpPr>
          <p:cNvPr id="10" name="Text 8"/>
          <p:cNvSpPr/>
          <p:nvPr/>
        </p:nvSpPr>
        <p:spPr>
          <a:xfrm>
            <a:off x="914400" y="3383280"/>
            <a:ext cx="9144000" cy="0"/>
          </a:xfrm>
          <a:prstGeom prst="rect">
            <a:avLst/>
          </a:prstGeom>
          <a:noFill/>
          <a:ln/>
        </p:spPr>
        <p:txBody>
          <a:bodyPr wrap="square" rtlCol="0" anchor="ctr"/>
          <a:lstStyle/>
          <a:p>
            <a:pPr indent="0" marL="0">
              <a:buNone/>
            </a:pPr>
            <a:r>
              <a:rPr lang="en-US" sz="1800" b="1" dirty="0">
                <a:solidFill>
                  <a:srgbClr val="000000"/>
                </a:solidFill>
              </a:rPr>
              <a:t>#3 Toyota</a:t>
            </a:r>
            <a:endParaRPr lang="en-US" sz="1800" dirty="0"/>
          </a:p>
        </p:txBody>
      </p:sp>
      <p:sp>
        <p:nvSpPr>
          <p:cNvPr id="11" name="Text 9"/>
          <p:cNvSpPr/>
          <p:nvPr/>
        </p:nvSpPr>
        <p:spPr>
          <a:xfrm>
            <a:off x="7315200" y="3383280"/>
            <a:ext cx="9144000" cy="0"/>
          </a:xfrm>
          <a:prstGeom prst="rect">
            <a:avLst/>
          </a:prstGeom>
          <a:noFill/>
          <a:ln/>
        </p:spPr>
        <p:txBody>
          <a:bodyPr wrap="square" rtlCol="0" anchor="ctr"/>
          <a:lstStyle/>
          <a:p>
            <a:pPr indent="0" marL="0">
              <a:buNone/>
            </a:pPr>
            <a:r>
              <a:rPr lang="en-US" sz="1600" dirty="0">
                <a:solidFill>
                  <a:srgbClr val="2563EB"/>
                </a:solidFill>
              </a:rPr>
              <a:t>Score: 4,68,170</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9144000" cy="0"/>
          </a:xfrm>
          <a:prstGeom prst="rect">
            <a:avLst/>
          </a:prstGeom>
          <a:noFill/>
          <a:ln/>
        </p:spPr>
        <p:txBody>
          <a:bodyPr wrap="square" rtlCol="0" anchor="ctr"/>
          <a:lstStyle/>
          <a:p>
            <a:pPr indent="0" marL="0">
              <a:buNone/>
            </a:pPr>
            <a:r>
              <a:rPr lang="en-US" sz="2400" b="1" dirty="0">
                <a:solidFill>
                  <a:srgbClr val="0F172A"/>
                </a:solidFill>
              </a:rPr>
              <a:t>Tesla Overview</a:t>
            </a:r>
            <a:endParaRPr lang="en-US" sz="2400" dirty="0"/>
          </a:p>
        </p:txBody>
      </p:sp>
      <p:sp>
        <p:nvSpPr>
          <p:cNvPr id="3" name="Text 1"/>
          <p:cNvSpPr/>
          <p:nvPr/>
        </p:nvSpPr>
        <p:spPr>
          <a:xfrm>
            <a:off x="914400" y="1371600"/>
            <a:ext cx="9144000" cy="0"/>
          </a:xfrm>
          <a:prstGeom prst="rect">
            <a:avLst/>
          </a:prstGeom>
          <a:noFill/>
          <a:ln/>
        </p:spPr>
        <p:txBody>
          <a:bodyPr wrap="square" rtlCol="0" anchor="ctr"/>
          <a:lstStyle/>
          <a:p>
            <a:pPr indent="0" marL="0">
              <a:buNone/>
            </a:pPr>
            <a:r>
              <a:rPr lang="en-US" sz="1800" dirty="0">
                <a:solidFill>
                  <a:srgbClr val="000000"/>
                </a:solidFill>
              </a:rPr>
              <a:t>Subscribers: 29,30,000</a:t>
            </a:r>
            <a:endParaRPr lang="en-US" sz="1800" dirty="0"/>
          </a:p>
        </p:txBody>
      </p:sp>
      <p:sp>
        <p:nvSpPr>
          <p:cNvPr id="4" name="Text 2"/>
          <p:cNvSpPr/>
          <p:nvPr/>
        </p:nvSpPr>
        <p:spPr>
          <a:xfrm>
            <a:off x="914400" y="2011680"/>
            <a:ext cx="9144000" cy="0"/>
          </a:xfrm>
          <a:prstGeom prst="rect">
            <a:avLst/>
          </a:prstGeom>
          <a:noFill/>
          <a:ln/>
        </p:spPr>
        <p:txBody>
          <a:bodyPr wrap="square" rtlCol="0" anchor="ctr"/>
          <a:lstStyle/>
          <a:p>
            <a:pPr indent="0" marL="0">
              <a:buNone/>
            </a:pPr>
            <a:r>
              <a:rPr lang="en-US" sz="1800" dirty="0">
                <a:solidFill>
                  <a:srgbClr val="000000"/>
                </a:solidFill>
              </a:rPr>
              <a:t>Average Views: 2,64,588</a:t>
            </a:r>
            <a:endParaRPr lang="en-US" sz="1800" dirty="0"/>
          </a:p>
        </p:txBody>
      </p:sp>
      <p:sp>
        <p:nvSpPr>
          <p:cNvPr id="5" name="Text 3"/>
          <p:cNvSpPr/>
          <p:nvPr/>
        </p:nvSpPr>
        <p:spPr>
          <a:xfrm>
            <a:off x="914400" y="2651760"/>
            <a:ext cx="9144000" cy="0"/>
          </a:xfrm>
          <a:prstGeom prst="rect">
            <a:avLst/>
          </a:prstGeom>
          <a:noFill/>
          <a:ln/>
        </p:spPr>
        <p:txBody>
          <a:bodyPr wrap="square" rtlCol="0" anchor="ctr"/>
          <a:lstStyle/>
          <a:p>
            <a:pPr indent="0" marL="0">
              <a:buNone/>
            </a:pPr>
            <a:r>
              <a:rPr lang="en-US" sz="1800" dirty="0">
                <a:solidFill>
                  <a:srgbClr val="000000"/>
                </a:solidFill>
              </a:rPr>
              <a:t>Engagement Rate: 3.50%</a:t>
            </a:r>
            <a:endParaRPr lang="en-US" sz="1800" dirty="0"/>
          </a:p>
        </p:txBody>
      </p:sp>
      <p:sp>
        <p:nvSpPr>
          <p:cNvPr id="6" name="Text 4"/>
          <p:cNvSpPr/>
          <p:nvPr/>
        </p:nvSpPr>
        <p:spPr>
          <a:xfrm>
            <a:off x="914400" y="3657600"/>
            <a:ext cx="9144000" cy="0"/>
          </a:xfrm>
          <a:prstGeom prst="rect">
            <a:avLst/>
          </a:prstGeom>
          <a:noFill/>
          <a:ln/>
        </p:spPr>
        <p:txBody>
          <a:bodyPr wrap="square" rtlCol="0" anchor="ctr"/>
          <a:lstStyle/>
          <a:p>
            <a:pPr indent="0" marL="0">
              <a:buNone/>
            </a:pPr>
            <a:r>
              <a:rPr lang="en-US" sz="2000" b="1" dirty="0">
                <a:solidFill>
                  <a:srgbClr val="2563EB"/>
                </a:solidFill>
              </a:rPr>
              <a:t>Key Insights</a:t>
            </a:r>
            <a:endParaRPr lang="en-US" sz="2000" dirty="0"/>
          </a:p>
        </p:txBody>
      </p:sp>
      <p:sp>
        <p:nvSpPr>
          <p:cNvPr id="7" name="Text 5"/>
          <p:cNvSpPr/>
          <p:nvPr/>
        </p:nvSpPr>
        <p:spPr>
          <a:xfrm>
            <a:off x="1097280" y="4206240"/>
            <a:ext cx="9144000" cy="0"/>
          </a:xfrm>
          <a:prstGeom prst="rect">
            <a:avLst/>
          </a:prstGeom>
          <a:noFill/>
          <a:ln/>
        </p:spPr>
        <p:txBody>
          <a:bodyPr wrap="square" rtlCol="0" anchor="ctr"/>
          <a:lstStyle/>
          <a:p>
            <a:pPr indent="0" marL="0">
              <a:buNone/>
            </a:pPr>
            <a:r>
              <a:rPr lang="en-US" sz="1600" dirty="0">
                <a:solidFill>
                  <a:srgbClr val="000000"/>
                </a:solidFill>
              </a:rPr>
              <a:t>• Tesla generates high average video reach.</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9144000" cy="0"/>
          </a:xfrm>
          <a:prstGeom prst="rect">
            <a:avLst/>
          </a:prstGeom>
          <a:noFill/>
          <a:ln/>
        </p:spPr>
        <p:txBody>
          <a:bodyPr wrap="square" rtlCol="0" anchor="ctr"/>
          <a:lstStyle/>
          <a:p>
            <a:pPr indent="0" marL="0">
              <a:buNone/>
            </a:pPr>
            <a:r>
              <a:rPr lang="en-US" sz="2400" b="1" dirty="0">
                <a:solidFill>
                  <a:srgbClr val="000000"/>
                </a:solidFill>
              </a:rPr>
              <a:t>Tesla Top Videos</a:t>
            </a:r>
            <a:endParaRPr lang="en-US" sz="2400" dirty="0"/>
          </a:p>
        </p:txBody>
      </p:sp>
      <p:sp>
        <p:nvSpPr>
          <p:cNvPr id="3" name="Shape 1"/>
          <p:cNvSpPr/>
          <p:nvPr/>
        </p:nvSpPr>
        <p:spPr>
          <a:xfrm>
            <a:off x="640080" y="1371600"/>
            <a:ext cx="10058400" cy="731520"/>
          </a:xfrm>
          <a:prstGeom prst="roundRect">
            <a:avLst/>
          </a:prstGeom>
          <a:solidFill>
            <a:srgbClr val="EFF6FF"/>
          </a:solidFill>
          <a:ln/>
        </p:spPr>
      </p:sp>
      <p:sp>
        <p:nvSpPr>
          <p:cNvPr id="4" name="Text 2"/>
          <p:cNvSpPr/>
          <p:nvPr/>
        </p:nvSpPr>
        <p:spPr>
          <a:xfrm>
            <a:off x="914400" y="1463040"/>
            <a:ext cx="5486400" cy="0"/>
          </a:xfrm>
          <a:prstGeom prst="rect">
            <a:avLst/>
          </a:prstGeom>
          <a:noFill/>
          <a:ln/>
        </p:spPr>
        <p:txBody>
          <a:bodyPr wrap="square" rtlCol="0" anchor="ctr"/>
          <a:lstStyle/>
          <a:p>
            <a:pPr indent="0" marL="0">
              <a:buNone/>
            </a:pPr>
            <a:r>
              <a:rPr lang="en-US" sz="1400" b="1" dirty="0">
                <a:solidFill>
                  <a:srgbClr val="000000"/>
                </a:solidFill>
              </a:rPr>
              <a:t>1. TERAFAB | The Largest Chip Manufacturing Facility Ever</a:t>
            </a:r>
            <a:endParaRPr lang="en-US" sz="1400" dirty="0"/>
          </a:p>
        </p:txBody>
      </p:sp>
      <p:sp>
        <p:nvSpPr>
          <p:cNvPr id="5" name="Text 3"/>
          <p:cNvSpPr/>
          <p:nvPr/>
        </p:nvSpPr>
        <p:spPr>
          <a:xfrm>
            <a:off x="7315200" y="1554480"/>
            <a:ext cx="9144000" cy="0"/>
          </a:xfrm>
          <a:prstGeom prst="rect">
            <a:avLst/>
          </a:prstGeom>
          <a:noFill/>
          <a:ln/>
        </p:spPr>
        <p:txBody>
          <a:bodyPr wrap="square" rtlCol="0" anchor="ctr"/>
          <a:lstStyle/>
          <a:p>
            <a:pPr indent="0" marL="0">
              <a:buNone/>
            </a:pPr>
            <a:r>
              <a:rPr lang="en-US" sz="1400" dirty="0">
                <a:solidFill>
                  <a:srgbClr val="2563EB"/>
                </a:solidFill>
              </a:rPr>
              <a:t>11,90,863 views</a:t>
            </a:r>
            <a:endParaRPr lang="en-US" sz="1400" dirty="0"/>
          </a:p>
        </p:txBody>
      </p:sp>
      <p:sp>
        <p:nvSpPr>
          <p:cNvPr id="6" name="Shape 4"/>
          <p:cNvSpPr/>
          <p:nvPr/>
        </p:nvSpPr>
        <p:spPr>
          <a:xfrm>
            <a:off x="640080" y="2286000"/>
            <a:ext cx="10058400" cy="731520"/>
          </a:xfrm>
          <a:prstGeom prst="roundRect">
            <a:avLst/>
          </a:prstGeom>
          <a:solidFill>
            <a:srgbClr val="EFF6FF"/>
          </a:solidFill>
          <a:ln/>
        </p:spPr>
      </p:sp>
      <p:sp>
        <p:nvSpPr>
          <p:cNvPr id="7" name="Text 5"/>
          <p:cNvSpPr/>
          <p:nvPr/>
        </p:nvSpPr>
        <p:spPr>
          <a:xfrm>
            <a:off x="914400" y="2377440"/>
            <a:ext cx="5486400" cy="0"/>
          </a:xfrm>
          <a:prstGeom prst="rect">
            <a:avLst/>
          </a:prstGeom>
          <a:noFill/>
          <a:ln/>
        </p:spPr>
        <p:txBody>
          <a:bodyPr wrap="square" rtlCol="0" anchor="ctr"/>
          <a:lstStyle/>
          <a:p>
            <a:pPr indent="0" marL="0">
              <a:buNone/>
            </a:pPr>
            <a:r>
              <a:rPr lang="en-US" sz="1400" b="1" dirty="0">
                <a:solidFill>
                  <a:srgbClr val="000000"/>
                </a:solidFill>
              </a:rPr>
              <a:t>2. Tesla Lithium Refinery</a:t>
            </a:r>
            <a:endParaRPr lang="en-US" sz="1400" dirty="0"/>
          </a:p>
        </p:txBody>
      </p:sp>
      <p:sp>
        <p:nvSpPr>
          <p:cNvPr id="8" name="Text 6"/>
          <p:cNvSpPr/>
          <p:nvPr/>
        </p:nvSpPr>
        <p:spPr>
          <a:xfrm>
            <a:off x="7315200" y="2468880"/>
            <a:ext cx="9144000" cy="0"/>
          </a:xfrm>
          <a:prstGeom prst="rect">
            <a:avLst/>
          </a:prstGeom>
          <a:noFill/>
          <a:ln/>
        </p:spPr>
        <p:txBody>
          <a:bodyPr wrap="square" rtlCol="0" anchor="ctr"/>
          <a:lstStyle/>
          <a:p>
            <a:pPr indent="0" marL="0">
              <a:buNone/>
            </a:pPr>
            <a:r>
              <a:rPr lang="en-US" sz="1400" dirty="0">
                <a:solidFill>
                  <a:srgbClr val="2563EB"/>
                </a:solidFill>
              </a:rPr>
              <a:t>6,82,884 views</a:t>
            </a:r>
            <a:endParaRPr lang="en-US" sz="1400" dirty="0"/>
          </a:p>
        </p:txBody>
      </p:sp>
      <p:sp>
        <p:nvSpPr>
          <p:cNvPr id="9" name="Shape 7"/>
          <p:cNvSpPr/>
          <p:nvPr/>
        </p:nvSpPr>
        <p:spPr>
          <a:xfrm>
            <a:off x="640080" y="3200400"/>
            <a:ext cx="10058400" cy="731520"/>
          </a:xfrm>
          <a:prstGeom prst="roundRect">
            <a:avLst/>
          </a:prstGeom>
          <a:solidFill>
            <a:srgbClr val="EFF6FF"/>
          </a:solidFill>
          <a:ln/>
        </p:spPr>
      </p:sp>
      <p:sp>
        <p:nvSpPr>
          <p:cNvPr id="10" name="Text 8"/>
          <p:cNvSpPr/>
          <p:nvPr/>
        </p:nvSpPr>
        <p:spPr>
          <a:xfrm>
            <a:off x="914400" y="3291840"/>
            <a:ext cx="5486400" cy="0"/>
          </a:xfrm>
          <a:prstGeom prst="rect">
            <a:avLst/>
          </a:prstGeom>
          <a:noFill/>
          <a:ln/>
        </p:spPr>
        <p:txBody>
          <a:bodyPr wrap="square" rtlCol="0" anchor="ctr"/>
          <a:lstStyle/>
          <a:p>
            <a:pPr indent="0" marL="0">
              <a:buNone/>
            </a:pPr>
            <a:r>
              <a:rPr lang="en-US" sz="1400" b="1" dirty="0">
                <a:solidFill>
                  <a:srgbClr val="000000"/>
                </a:solidFill>
              </a:rPr>
              <a:t>3. TERAFAB</a:t>
            </a:r>
            <a:endParaRPr lang="en-US" sz="1400" dirty="0"/>
          </a:p>
        </p:txBody>
      </p:sp>
      <p:sp>
        <p:nvSpPr>
          <p:cNvPr id="11" name="Text 9"/>
          <p:cNvSpPr/>
          <p:nvPr/>
        </p:nvSpPr>
        <p:spPr>
          <a:xfrm>
            <a:off x="7315200" y="3383280"/>
            <a:ext cx="9144000" cy="0"/>
          </a:xfrm>
          <a:prstGeom prst="rect">
            <a:avLst/>
          </a:prstGeom>
          <a:noFill/>
          <a:ln/>
        </p:spPr>
        <p:txBody>
          <a:bodyPr wrap="square" rtlCol="0" anchor="ctr"/>
          <a:lstStyle/>
          <a:p>
            <a:pPr indent="0" marL="0">
              <a:buNone/>
            </a:pPr>
            <a:r>
              <a:rPr lang="en-US" sz="1400" dirty="0">
                <a:solidFill>
                  <a:srgbClr val="2563EB"/>
                </a:solidFill>
              </a:rPr>
              <a:t>5,79,271 views</a:t>
            </a:r>
            <a:endParaRPr lang="en-US" sz="1400" dirty="0"/>
          </a:p>
        </p:txBody>
      </p:sp>
      <p:sp>
        <p:nvSpPr>
          <p:cNvPr id="12" name="Shape 10"/>
          <p:cNvSpPr/>
          <p:nvPr/>
        </p:nvSpPr>
        <p:spPr>
          <a:xfrm>
            <a:off x="640080" y="4114800"/>
            <a:ext cx="10058400" cy="731520"/>
          </a:xfrm>
          <a:prstGeom prst="roundRect">
            <a:avLst/>
          </a:prstGeom>
          <a:solidFill>
            <a:srgbClr val="EFF6FF"/>
          </a:solidFill>
          <a:ln/>
        </p:spPr>
      </p:sp>
      <p:sp>
        <p:nvSpPr>
          <p:cNvPr id="13" name="Text 11"/>
          <p:cNvSpPr/>
          <p:nvPr/>
        </p:nvSpPr>
        <p:spPr>
          <a:xfrm>
            <a:off x="914400" y="4206240"/>
            <a:ext cx="5486400" cy="0"/>
          </a:xfrm>
          <a:prstGeom prst="rect">
            <a:avLst/>
          </a:prstGeom>
          <a:noFill/>
          <a:ln/>
        </p:spPr>
        <p:txBody>
          <a:bodyPr wrap="square" rtlCol="0" anchor="ctr"/>
          <a:lstStyle/>
          <a:p>
            <a:pPr indent="0" marL="0">
              <a:buNone/>
            </a:pPr>
            <a:r>
              <a:rPr lang="en-US" sz="1400" b="1" dirty="0">
                <a:solidFill>
                  <a:srgbClr val="000000"/>
                </a:solidFill>
              </a:rPr>
              <a:t>4. Grandma gets it</a:t>
            </a:r>
            <a:endParaRPr lang="en-US" sz="1400" dirty="0"/>
          </a:p>
        </p:txBody>
      </p:sp>
      <p:sp>
        <p:nvSpPr>
          <p:cNvPr id="14" name="Text 12"/>
          <p:cNvSpPr/>
          <p:nvPr/>
        </p:nvSpPr>
        <p:spPr>
          <a:xfrm>
            <a:off x="7315200" y="4297680"/>
            <a:ext cx="9144000" cy="0"/>
          </a:xfrm>
          <a:prstGeom prst="rect">
            <a:avLst/>
          </a:prstGeom>
          <a:noFill/>
          <a:ln/>
        </p:spPr>
        <p:txBody>
          <a:bodyPr wrap="square" rtlCol="0" anchor="ctr"/>
          <a:lstStyle/>
          <a:p>
            <a:pPr indent="0" marL="0">
              <a:buNone/>
            </a:pPr>
            <a:r>
              <a:rPr lang="en-US" sz="1400" dirty="0">
                <a:solidFill>
                  <a:srgbClr val="2563EB"/>
                </a:solidFill>
              </a:rPr>
              <a:t>3,25,489 views</a:t>
            </a:r>
            <a:endParaRPr lang="en-US" sz="1400" dirty="0"/>
          </a:p>
        </p:txBody>
      </p:sp>
      <p:sp>
        <p:nvSpPr>
          <p:cNvPr id="15" name="Shape 13"/>
          <p:cNvSpPr/>
          <p:nvPr/>
        </p:nvSpPr>
        <p:spPr>
          <a:xfrm>
            <a:off x="640080" y="5029200"/>
            <a:ext cx="10058400" cy="731520"/>
          </a:xfrm>
          <a:prstGeom prst="roundRect">
            <a:avLst/>
          </a:prstGeom>
          <a:solidFill>
            <a:srgbClr val="EFF6FF"/>
          </a:solidFill>
          <a:ln/>
        </p:spPr>
      </p:sp>
      <p:sp>
        <p:nvSpPr>
          <p:cNvPr id="16" name="Text 14"/>
          <p:cNvSpPr/>
          <p:nvPr/>
        </p:nvSpPr>
        <p:spPr>
          <a:xfrm>
            <a:off x="914400" y="5120640"/>
            <a:ext cx="5486400" cy="0"/>
          </a:xfrm>
          <a:prstGeom prst="rect">
            <a:avLst/>
          </a:prstGeom>
          <a:noFill/>
          <a:ln/>
        </p:spPr>
        <p:txBody>
          <a:bodyPr wrap="square" rtlCol="0" anchor="ctr"/>
          <a:lstStyle/>
          <a:p>
            <a:pPr indent="0" marL="0">
              <a:buNone/>
            </a:pPr>
            <a:r>
              <a:rPr lang="en-US" sz="1400" b="1" dirty="0">
                <a:solidFill>
                  <a:srgbClr val="000000"/>
                </a:solidFill>
              </a:rPr>
              <a:t>5. Introducing Tesla Solar Panels</a:t>
            </a:r>
            <a:endParaRPr lang="en-US" sz="1400" dirty="0"/>
          </a:p>
        </p:txBody>
      </p:sp>
      <p:sp>
        <p:nvSpPr>
          <p:cNvPr id="17" name="Text 15"/>
          <p:cNvSpPr/>
          <p:nvPr/>
        </p:nvSpPr>
        <p:spPr>
          <a:xfrm>
            <a:off x="7315200" y="5212080"/>
            <a:ext cx="9144000" cy="0"/>
          </a:xfrm>
          <a:prstGeom prst="rect">
            <a:avLst/>
          </a:prstGeom>
          <a:noFill/>
          <a:ln/>
        </p:spPr>
        <p:txBody>
          <a:bodyPr wrap="square" rtlCol="0" anchor="ctr"/>
          <a:lstStyle/>
          <a:p>
            <a:pPr indent="0" marL="0">
              <a:buNone/>
            </a:pPr>
            <a:r>
              <a:rPr lang="en-US" sz="1400" dirty="0">
                <a:solidFill>
                  <a:srgbClr val="2563EB"/>
                </a:solidFill>
              </a:rPr>
              <a:t>3,06,348 views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9144000" cy="0"/>
          </a:xfrm>
          <a:prstGeom prst="rect">
            <a:avLst/>
          </a:prstGeom>
          <a:noFill/>
          <a:ln/>
        </p:spPr>
        <p:txBody>
          <a:bodyPr wrap="square" rtlCol="0" anchor="ctr"/>
          <a:lstStyle/>
          <a:p>
            <a:pPr indent="0" marL="0">
              <a:buNone/>
            </a:pPr>
            <a:r>
              <a:rPr lang="en-US" sz="2400" b="1" dirty="0">
                <a:solidFill>
                  <a:srgbClr val="0F172A"/>
                </a:solidFill>
              </a:rPr>
              <a:t>Ford Overview</a:t>
            </a:r>
            <a:endParaRPr lang="en-US" sz="2400" dirty="0"/>
          </a:p>
        </p:txBody>
      </p:sp>
      <p:sp>
        <p:nvSpPr>
          <p:cNvPr id="3" name="Text 1"/>
          <p:cNvSpPr/>
          <p:nvPr/>
        </p:nvSpPr>
        <p:spPr>
          <a:xfrm>
            <a:off x="914400" y="1371600"/>
            <a:ext cx="9144000" cy="0"/>
          </a:xfrm>
          <a:prstGeom prst="rect">
            <a:avLst/>
          </a:prstGeom>
          <a:noFill/>
          <a:ln/>
        </p:spPr>
        <p:txBody>
          <a:bodyPr wrap="square" rtlCol="0" anchor="ctr"/>
          <a:lstStyle/>
          <a:p>
            <a:pPr indent="0" marL="0">
              <a:buNone/>
            </a:pPr>
            <a:r>
              <a:rPr lang="en-US" sz="1800" dirty="0">
                <a:solidFill>
                  <a:srgbClr val="000000"/>
                </a:solidFill>
              </a:rPr>
              <a:t>Subscribers: 24,20,000</a:t>
            </a:r>
            <a:endParaRPr lang="en-US" sz="1800" dirty="0"/>
          </a:p>
        </p:txBody>
      </p:sp>
      <p:sp>
        <p:nvSpPr>
          <p:cNvPr id="4" name="Text 2"/>
          <p:cNvSpPr/>
          <p:nvPr/>
        </p:nvSpPr>
        <p:spPr>
          <a:xfrm>
            <a:off x="914400" y="2011680"/>
            <a:ext cx="9144000" cy="0"/>
          </a:xfrm>
          <a:prstGeom prst="rect">
            <a:avLst/>
          </a:prstGeom>
          <a:noFill/>
          <a:ln/>
        </p:spPr>
        <p:txBody>
          <a:bodyPr wrap="square" rtlCol="0" anchor="ctr"/>
          <a:lstStyle/>
          <a:p>
            <a:pPr indent="0" marL="0">
              <a:buNone/>
            </a:pPr>
            <a:r>
              <a:rPr lang="en-US" sz="1800" dirty="0">
                <a:solidFill>
                  <a:srgbClr val="000000"/>
                </a:solidFill>
              </a:rPr>
              <a:t>Average Views: 7,391</a:t>
            </a:r>
            <a:endParaRPr lang="en-US" sz="1800" dirty="0"/>
          </a:p>
        </p:txBody>
      </p:sp>
      <p:sp>
        <p:nvSpPr>
          <p:cNvPr id="5" name="Text 3"/>
          <p:cNvSpPr/>
          <p:nvPr/>
        </p:nvSpPr>
        <p:spPr>
          <a:xfrm>
            <a:off x="914400" y="2651760"/>
            <a:ext cx="9144000" cy="0"/>
          </a:xfrm>
          <a:prstGeom prst="rect">
            <a:avLst/>
          </a:prstGeom>
          <a:noFill/>
          <a:ln/>
        </p:spPr>
        <p:txBody>
          <a:bodyPr wrap="square" rtlCol="0" anchor="ctr"/>
          <a:lstStyle/>
          <a:p>
            <a:pPr indent="0" marL="0">
              <a:buNone/>
            </a:pPr>
            <a:r>
              <a:rPr lang="en-US" sz="1800" dirty="0">
                <a:solidFill>
                  <a:srgbClr val="000000"/>
                </a:solidFill>
              </a:rPr>
              <a:t>Engagement Rate: 3.20%</a:t>
            </a:r>
            <a:endParaRPr lang="en-US" sz="1800" dirty="0"/>
          </a:p>
        </p:txBody>
      </p:sp>
      <p:sp>
        <p:nvSpPr>
          <p:cNvPr id="6" name="Text 4"/>
          <p:cNvSpPr/>
          <p:nvPr/>
        </p:nvSpPr>
        <p:spPr>
          <a:xfrm>
            <a:off x="914400" y="3657600"/>
            <a:ext cx="9144000" cy="0"/>
          </a:xfrm>
          <a:prstGeom prst="rect">
            <a:avLst/>
          </a:prstGeom>
          <a:noFill/>
          <a:ln/>
        </p:spPr>
        <p:txBody>
          <a:bodyPr wrap="square" rtlCol="0" anchor="ctr"/>
          <a:lstStyle/>
          <a:p>
            <a:pPr indent="0" marL="0">
              <a:buNone/>
            </a:pPr>
            <a:r>
              <a:rPr lang="en-US" sz="2000" b="1" dirty="0">
                <a:solidFill>
                  <a:srgbClr val="2563EB"/>
                </a:solidFill>
              </a:rPr>
              <a:t>Key Insights</a:t>
            </a:r>
            <a:endParaRPr lang="en-US" sz="2000" dirty="0"/>
          </a:p>
        </p:txBody>
      </p:sp>
      <p:sp>
        <p:nvSpPr>
          <p:cNvPr id="7" name="Text 5"/>
          <p:cNvSpPr/>
          <p:nvPr/>
        </p:nvSpPr>
        <p:spPr>
          <a:xfrm>
            <a:off x="1097280" y="4206240"/>
            <a:ext cx="9144000" cy="0"/>
          </a:xfrm>
          <a:prstGeom prst="rect">
            <a:avLst/>
          </a:prstGeom>
          <a:noFill/>
          <a:ln/>
        </p:spPr>
        <p:txBody>
          <a:bodyPr wrap="square" rtlCol="0" anchor="ctr"/>
          <a:lstStyle/>
          <a:p>
            <a:pPr indent="0" marL="0">
              <a:buNone/>
            </a:pPr>
            <a:r>
              <a:rPr lang="en-US" sz="1600" dirty="0">
                <a:solidFill>
                  <a:srgbClr val="000000"/>
                </a:solidFill>
              </a:rPr>
              <a:t>• Ford maintains a highly active content strategy.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9144000" cy="0"/>
          </a:xfrm>
          <a:prstGeom prst="rect">
            <a:avLst/>
          </a:prstGeom>
          <a:noFill/>
          <a:ln/>
        </p:spPr>
        <p:txBody>
          <a:bodyPr wrap="square" rtlCol="0" anchor="ctr"/>
          <a:lstStyle/>
          <a:p>
            <a:pPr indent="0" marL="0">
              <a:buNone/>
            </a:pPr>
            <a:r>
              <a:rPr lang="en-US" sz="2400" b="1" dirty="0">
                <a:solidFill>
                  <a:srgbClr val="000000"/>
                </a:solidFill>
              </a:rPr>
              <a:t>Ford Top Videos</a:t>
            </a:r>
            <a:endParaRPr lang="en-US" sz="2400" dirty="0"/>
          </a:p>
        </p:txBody>
      </p:sp>
      <p:sp>
        <p:nvSpPr>
          <p:cNvPr id="3" name="Shape 1"/>
          <p:cNvSpPr/>
          <p:nvPr/>
        </p:nvSpPr>
        <p:spPr>
          <a:xfrm>
            <a:off x="640080" y="1371600"/>
            <a:ext cx="10058400" cy="731520"/>
          </a:xfrm>
          <a:prstGeom prst="roundRect">
            <a:avLst/>
          </a:prstGeom>
          <a:solidFill>
            <a:srgbClr val="EFF6FF"/>
          </a:solidFill>
          <a:ln/>
        </p:spPr>
      </p:sp>
      <p:sp>
        <p:nvSpPr>
          <p:cNvPr id="4" name="Text 2"/>
          <p:cNvSpPr/>
          <p:nvPr/>
        </p:nvSpPr>
        <p:spPr>
          <a:xfrm>
            <a:off x="914400" y="1463040"/>
            <a:ext cx="5486400" cy="0"/>
          </a:xfrm>
          <a:prstGeom prst="rect">
            <a:avLst/>
          </a:prstGeom>
          <a:noFill/>
          <a:ln/>
        </p:spPr>
        <p:txBody>
          <a:bodyPr wrap="square" rtlCol="0" anchor="ctr"/>
          <a:lstStyle/>
          <a:p>
            <a:pPr indent="0" marL="0">
              <a:buNone/>
            </a:pPr>
            <a:r>
              <a:rPr lang="en-US" sz="1400" b="1" dirty="0">
                <a:solidFill>
                  <a:srgbClr val="000000"/>
                </a:solidFill>
              </a:rPr>
              <a:t>1. Dirk Müller’s Mustang GTD Lap 2026</a:t>
            </a:r>
            <a:endParaRPr lang="en-US" sz="1400" dirty="0"/>
          </a:p>
        </p:txBody>
      </p:sp>
      <p:sp>
        <p:nvSpPr>
          <p:cNvPr id="5" name="Text 3"/>
          <p:cNvSpPr/>
          <p:nvPr/>
        </p:nvSpPr>
        <p:spPr>
          <a:xfrm>
            <a:off x="7315200" y="1554480"/>
            <a:ext cx="9144000" cy="0"/>
          </a:xfrm>
          <a:prstGeom prst="rect">
            <a:avLst/>
          </a:prstGeom>
          <a:noFill/>
          <a:ln/>
        </p:spPr>
        <p:txBody>
          <a:bodyPr wrap="square" rtlCol="0" anchor="ctr"/>
          <a:lstStyle/>
          <a:p>
            <a:pPr indent="0" marL="0">
              <a:buNone/>
            </a:pPr>
            <a:r>
              <a:rPr lang="en-US" sz="1400" dirty="0">
                <a:solidFill>
                  <a:srgbClr val="2563EB"/>
                </a:solidFill>
              </a:rPr>
              <a:t>44,180 views</a:t>
            </a:r>
            <a:endParaRPr lang="en-US" sz="1400" dirty="0"/>
          </a:p>
        </p:txBody>
      </p:sp>
      <p:sp>
        <p:nvSpPr>
          <p:cNvPr id="6" name="Shape 4"/>
          <p:cNvSpPr/>
          <p:nvPr/>
        </p:nvSpPr>
        <p:spPr>
          <a:xfrm>
            <a:off x="640080" y="2286000"/>
            <a:ext cx="10058400" cy="731520"/>
          </a:xfrm>
          <a:prstGeom prst="roundRect">
            <a:avLst/>
          </a:prstGeom>
          <a:solidFill>
            <a:srgbClr val="EFF6FF"/>
          </a:solidFill>
          <a:ln/>
        </p:spPr>
      </p:sp>
      <p:sp>
        <p:nvSpPr>
          <p:cNvPr id="7" name="Text 5"/>
          <p:cNvSpPr/>
          <p:nvPr/>
        </p:nvSpPr>
        <p:spPr>
          <a:xfrm>
            <a:off x="914400" y="2377440"/>
            <a:ext cx="5486400" cy="0"/>
          </a:xfrm>
          <a:prstGeom prst="rect">
            <a:avLst/>
          </a:prstGeom>
          <a:noFill/>
          <a:ln/>
        </p:spPr>
        <p:txBody>
          <a:bodyPr wrap="square" rtlCol="0" anchor="ctr"/>
          <a:lstStyle/>
          <a:p>
            <a:pPr indent="0" marL="0">
              <a:buNone/>
            </a:pPr>
            <a:r>
              <a:rPr lang="en-US" sz="1400" b="1" dirty="0">
                <a:solidFill>
                  <a:srgbClr val="000000"/>
                </a:solidFill>
              </a:rPr>
              <a:t>2. The New Official Vehicle of MLB | Ford</a:t>
            </a:r>
            <a:endParaRPr lang="en-US" sz="1400" dirty="0"/>
          </a:p>
        </p:txBody>
      </p:sp>
      <p:sp>
        <p:nvSpPr>
          <p:cNvPr id="8" name="Text 6"/>
          <p:cNvSpPr/>
          <p:nvPr/>
        </p:nvSpPr>
        <p:spPr>
          <a:xfrm>
            <a:off x="7315200" y="2468880"/>
            <a:ext cx="9144000" cy="0"/>
          </a:xfrm>
          <a:prstGeom prst="rect">
            <a:avLst/>
          </a:prstGeom>
          <a:noFill/>
          <a:ln/>
        </p:spPr>
        <p:txBody>
          <a:bodyPr wrap="square" rtlCol="0" anchor="ctr"/>
          <a:lstStyle/>
          <a:p>
            <a:pPr indent="0" marL="0">
              <a:buNone/>
            </a:pPr>
            <a:r>
              <a:rPr lang="en-US" sz="1400" dirty="0">
                <a:solidFill>
                  <a:srgbClr val="2563EB"/>
                </a:solidFill>
              </a:rPr>
              <a:t>13,698 views</a:t>
            </a:r>
            <a:endParaRPr lang="en-US" sz="1400" dirty="0"/>
          </a:p>
        </p:txBody>
      </p:sp>
      <p:sp>
        <p:nvSpPr>
          <p:cNvPr id="9" name="Shape 7"/>
          <p:cNvSpPr/>
          <p:nvPr/>
        </p:nvSpPr>
        <p:spPr>
          <a:xfrm>
            <a:off x="640080" y="3200400"/>
            <a:ext cx="10058400" cy="731520"/>
          </a:xfrm>
          <a:prstGeom prst="roundRect">
            <a:avLst/>
          </a:prstGeom>
          <a:solidFill>
            <a:srgbClr val="EFF6FF"/>
          </a:solidFill>
          <a:ln/>
        </p:spPr>
      </p:sp>
      <p:sp>
        <p:nvSpPr>
          <p:cNvPr id="10" name="Text 8"/>
          <p:cNvSpPr/>
          <p:nvPr/>
        </p:nvSpPr>
        <p:spPr>
          <a:xfrm>
            <a:off x="914400" y="3291840"/>
            <a:ext cx="5486400" cy="0"/>
          </a:xfrm>
          <a:prstGeom prst="rect">
            <a:avLst/>
          </a:prstGeom>
          <a:noFill/>
          <a:ln/>
        </p:spPr>
        <p:txBody>
          <a:bodyPr wrap="square" rtlCol="0" anchor="ctr"/>
          <a:lstStyle/>
          <a:p>
            <a:pPr indent="0" marL="0">
              <a:buNone/>
            </a:pPr>
            <a:r>
              <a:rPr lang="en-US" sz="1400" b="1" dirty="0">
                <a:solidFill>
                  <a:srgbClr val="000000"/>
                </a:solidFill>
              </a:rPr>
              <a:t>3. Introducing the First-Ever Ford Super Duty® Carhartt® Package</a:t>
            </a:r>
            <a:endParaRPr lang="en-US" sz="1400" dirty="0"/>
          </a:p>
        </p:txBody>
      </p:sp>
      <p:sp>
        <p:nvSpPr>
          <p:cNvPr id="11" name="Text 9"/>
          <p:cNvSpPr/>
          <p:nvPr/>
        </p:nvSpPr>
        <p:spPr>
          <a:xfrm>
            <a:off x="7315200" y="3383280"/>
            <a:ext cx="9144000" cy="0"/>
          </a:xfrm>
          <a:prstGeom prst="rect">
            <a:avLst/>
          </a:prstGeom>
          <a:noFill/>
          <a:ln/>
        </p:spPr>
        <p:txBody>
          <a:bodyPr wrap="square" rtlCol="0" anchor="ctr"/>
          <a:lstStyle/>
          <a:p>
            <a:pPr indent="0" marL="0">
              <a:buNone/>
            </a:pPr>
            <a:r>
              <a:rPr lang="en-US" sz="1400" dirty="0">
                <a:solidFill>
                  <a:srgbClr val="2563EB"/>
                </a:solidFill>
              </a:rPr>
              <a:t>11,692 views</a:t>
            </a:r>
            <a:endParaRPr lang="en-US" sz="1400" dirty="0"/>
          </a:p>
        </p:txBody>
      </p:sp>
      <p:sp>
        <p:nvSpPr>
          <p:cNvPr id="12" name="Shape 10"/>
          <p:cNvSpPr/>
          <p:nvPr/>
        </p:nvSpPr>
        <p:spPr>
          <a:xfrm>
            <a:off x="640080" y="4114800"/>
            <a:ext cx="10058400" cy="731520"/>
          </a:xfrm>
          <a:prstGeom prst="roundRect">
            <a:avLst/>
          </a:prstGeom>
          <a:solidFill>
            <a:srgbClr val="EFF6FF"/>
          </a:solidFill>
          <a:ln/>
        </p:spPr>
      </p:sp>
      <p:sp>
        <p:nvSpPr>
          <p:cNvPr id="13" name="Text 11"/>
          <p:cNvSpPr/>
          <p:nvPr/>
        </p:nvSpPr>
        <p:spPr>
          <a:xfrm>
            <a:off x="914400" y="4206240"/>
            <a:ext cx="5486400" cy="0"/>
          </a:xfrm>
          <a:prstGeom prst="rect">
            <a:avLst/>
          </a:prstGeom>
          <a:noFill/>
          <a:ln/>
        </p:spPr>
        <p:txBody>
          <a:bodyPr wrap="square" rtlCol="0" anchor="ctr"/>
          <a:lstStyle/>
          <a:p>
            <a:pPr indent="0" marL="0">
              <a:buNone/>
            </a:pPr>
            <a:r>
              <a:rPr lang="en-US" sz="1400" b="1" dirty="0">
                <a:solidFill>
                  <a:srgbClr val="000000"/>
                </a:solidFill>
              </a:rPr>
              <a:t>4. Ford Employee Pricing | You Pay What We Pay</a:t>
            </a:r>
            <a:endParaRPr lang="en-US" sz="1400" dirty="0"/>
          </a:p>
        </p:txBody>
      </p:sp>
      <p:sp>
        <p:nvSpPr>
          <p:cNvPr id="14" name="Text 12"/>
          <p:cNvSpPr/>
          <p:nvPr/>
        </p:nvSpPr>
        <p:spPr>
          <a:xfrm>
            <a:off x="7315200" y="4297680"/>
            <a:ext cx="9144000" cy="0"/>
          </a:xfrm>
          <a:prstGeom prst="rect">
            <a:avLst/>
          </a:prstGeom>
          <a:noFill/>
          <a:ln/>
        </p:spPr>
        <p:txBody>
          <a:bodyPr wrap="square" rtlCol="0" anchor="ctr"/>
          <a:lstStyle/>
          <a:p>
            <a:pPr indent="0" marL="0">
              <a:buNone/>
            </a:pPr>
            <a:r>
              <a:rPr lang="en-US" sz="1400" dirty="0">
                <a:solidFill>
                  <a:srgbClr val="2563EB"/>
                </a:solidFill>
              </a:rPr>
              <a:t>11,562 views</a:t>
            </a:r>
            <a:endParaRPr lang="en-US" sz="1400" dirty="0"/>
          </a:p>
        </p:txBody>
      </p:sp>
      <p:sp>
        <p:nvSpPr>
          <p:cNvPr id="15" name="Shape 13"/>
          <p:cNvSpPr/>
          <p:nvPr/>
        </p:nvSpPr>
        <p:spPr>
          <a:xfrm>
            <a:off x="640080" y="5029200"/>
            <a:ext cx="10058400" cy="731520"/>
          </a:xfrm>
          <a:prstGeom prst="roundRect">
            <a:avLst/>
          </a:prstGeom>
          <a:solidFill>
            <a:srgbClr val="EFF6FF"/>
          </a:solidFill>
          <a:ln/>
        </p:spPr>
      </p:sp>
      <p:sp>
        <p:nvSpPr>
          <p:cNvPr id="16" name="Text 14"/>
          <p:cNvSpPr/>
          <p:nvPr/>
        </p:nvSpPr>
        <p:spPr>
          <a:xfrm>
            <a:off x="914400" y="5120640"/>
            <a:ext cx="5486400" cy="0"/>
          </a:xfrm>
          <a:prstGeom prst="rect">
            <a:avLst/>
          </a:prstGeom>
          <a:noFill/>
          <a:ln/>
        </p:spPr>
        <p:txBody>
          <a:bodyPr wrap="square" rtlCol="0" anchor="ctr"/>
          <a:lstStyle/>
          <a:p>
            <a:pPr indent="0" marL="0">
              <a:buNone/>
            </a:pPr>
            <a:r>
              <a:rPr lang="en-US" sz="1400" b="1" dirty="0">
                <a:solidFill>
                  <a:srgbClr val="000000"/>
                </a:solidFill>
              </a:rPr>
              <a:t>5. Ford Expedition 30th Anniversary Appearance Package I A Family Legacy</a:t>
            </a:r>
            <a:endParaRPr lang="en-US" sz="1400" dirty="0"/>
          </a:p>
        </p:txBody>
      </p:sp>
      <p:sp>
        <p:nvSpPr>
          <p:cNvPr id="17" name="Text 15"/>
          <p:cNvSpPr/>
          <p:nvPr/>
        </p:nvSpPr>
        <p:spPr>
          <a:xfrm>
            <a:off x="7315200" y="5212080"/>
            <a:ext cx="9144000" cy="0"/>
          </a:xfrm>
          <a:prstGeom prst="rect">
            <a:avLst/>
          </a:prstGeom>
          <a:noFill/>
          <a:ln/>
        </p:spPr>
        <p:txBody>
          <a:bodyPr wrap="square" rtlCol="0" anchor="ctr"/>
          <a:lstStyle/>
          <a:p>
            <a:pPr indent="0" marL="0">
              <a:buNone/>
            </a:pPr>
            <a:r>
              <a:rPr lang="en-US" sz="1400" dirty="0">
                <a:solidFill>
                  <a:srgbClr val="2563EB"/>
                </a:solidFill>
              </a:rPr>
              <a:t>7,733 views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9144000" cy="0"/>
          </a:xfrm>
          <a:prstGeom prst="rect">
            <a:avLst/>
          </a:prstGeom>
          <a:noFill/>
          <a:ln/>
        </p:spPr>
        <p:txBody>
          <a:bodyPr wrap="square" rtlCol="0" anchor="ctr"/>
          <a:lstStyle/>
          <a:p>
            <a:pPr indent="0" marL="0">
              <a:buNone/>
            </a:pPr>
            <a:r>
              <a:rPr lang="en-US" sz="2400" b="1" dirty="0">
                <a:solidFill>
                  <a:srgbClr val="0F172A"/>
                </a:solidFill>
              </a:rPr>
              <a:t>Toyota Overview</a:t>
            </a:r>
            <a:endParaRPr lang="en-US" sz="2400" dirty="0"/>
          </a:p>
        </p:txBody>
      </p:sp>
      <p:sp>
        <p:nvSpPr>
          <p:cNvPr id="3" name="Text 1"/>
          <p:cNvSpPr/>
          <p:nvPr/>
        </p:nvSpPr>
        <p:spPr>
          <a:xfrm>
            <a:off x="914400" y="1371600"/>
            <a:ext cx="9144000" cy="0"/>
          </a:xfrm>
          <a:prstGeom prst="rect">
            <a:avLst/>
          </a:prstGeom>
          <a:noFill/>
          <a:ln/>
        </p:spPr>
        <p:txBody>
          <a:bodyPr wrap="square" rtlCol="0" anchor="ctr"/>
          <a:lstStyle/>
          <a:p>
            <a:pPr indent="0" marL="0">
              <a:buNone/>
            </a:pPr>
            <a:r>
              <a:rPr lang="en-US" sz="1800" dirty="0">
                <a:solidFill>
                  <a:srgbClr val="000000"/>
                </a:solidFill>
              </a:rPr>
              <a:t>Subscribers: 1,25,000</a:t>
            </a:r>
            <a:endParaRPr lang="en-US" sz="1800" dirty="0"/>
          </a:p>
        </p:txBody>
      </p:sp>
      <p:sp>
        <p:nvSpPr>
          <p:cNvPr id="4" name="Text 2"/>
          <p:cNvSpPr/>
          <p:nvPr/>
        </p:nvSpPr>
        <p:spPr>
          <a:xfrm>
            <a:off x="914400" y="2011680"/>
            <a:ext cx="9144000" cy="0"/>
          </a:xfrm>
          <a:prstGeom prst="rect">
            <a:avLst/>
          </a:prstGeom>
          <a:noFill/>
          <a:ln/>
        </p:spPr>
        <p:txBody>
          <a:bodyPr wrap="square" rtlCol="0" anchor="ctr"/>
          <a:lstStyle/>
          <a:p>
            <a:pPr indent="0" marL="0">
              <a:buNone/>
            </a:pPr>
            <a:r>
              <a:rPr lang="en-US" sz="1800" dirty="0">
                <a:solidFill>
                  <a:srgbClr val="000000"/>
                </a:solidFill>
              </a:rPr>
              <a:t>Average Views: 11,07,915</a:t>
            </a:r>
            <a:endParaRPr lang="en-US" sz="1800" dirty="0"/>
          </a:p>
        </p:txBody>
      </p:sp>
      <p:sp>
        <p:nvSpPr>
          <p:cNvPr id="5" name="Text 3"/>
          <p:cNvSpPr/>
          <p:nvPr/>
        </p:nvSpPr>
        <p:spPr>
          <a:xfrm>
            <a:off x="914400" y="2651760"/>
            <a:ext cx="9144000" cy="0"/>
          </a:xfrm>
          <a:prstGeom prst="rect">
            <a:avLst/>
          </a:prstGeom>
          <a:noFill/>
          <a:ln/>
        </p:spPr>
        <p:txBody>
          <a:bodyPr wrap="square" rtlCol="0" anchor="ctr"/>
          <a:lstStyle/>
          <a:p>
            <a:pPr indent="0" marL="0">
              <a:buNone/>
            </a:pPr>
            <a:r>
              <a:rPr lang="en-US" sz="1800" dirty="0">
                <a:solidFill>
                  <a:srgbClr val="000000"/>
                </a:solidFill>
              </a:rPr>
              <a:t>Engagement Rate: 0.01%</a:t>
            </a:r>
            <a:endParaRPr lang="en-US" sz="1800" dirty="0"/>
          </a:p>
        </p:txBody>
      </p:sp>
      <p:sp>
        <p:nvSpPr>
          <p:cNvPr id="6" name="Text 4"/>
          <p:cNvSpPr/>
          <p:nvPr/>
        </p:nvSpPr>
        <p:spPr>
          <a:xfrm>
            <a:off x="914400" y="3657600"/>
            <a:ext cx="9144000" cy="0"/>
          </a:xfrm>
          <a:prstGeom prst="rect">
            <a:avLst/>
          </a:prstGeom>
          <a:noFill/>
          <a:ln/>
        </p:spPr>
        <p:txBody>
          <a:bodyPr wrap="square" rtlCol="0" anchor="ctr"/>
          <a:lstStyle/>
          <a:p>
            <a:pPr indent="0" marL="0">
              <a:buNone/>
            </a:pPr>
            <a:r>
              <a:rPr lang="en-US" sz="2000" b="1" dirty="0">
                <a:solidFill>
                  <a:srgbClr val="2563EB"/>
                </a:solidFill>
              </a:rPr>
              <a:t>Key Insights</a:t>
            </a:r>
            <a:endParaRPr lang="en-US" sz="2000" dirty="0"/>
          </a:p>
        </p:txBody>
      </p:sp>
      <p:sp>
        <p:nvSpPr>
          <p:cNvPr id="7" name="Text 5"/>
          <p:cNvSpPr/>
          <p:nvPr/>
        </p:nvSpPr>
        <p:spPr>
          <a:xfrm>
            <a:off x="1097280" y="4206240"/>
            <a:ext cx="9144000" cy="0"/>
          </a:xfrm>
          <a:prstGeom prst="rect">
            <a:avLst/>
          </a:prstGeom>
          <a:noFill/>
          <a:ln/>
        </p:spPr>
        <p:txBody>
          <a:bodyPr wrap="square" rtlCol="0" anchor="ctr"/>
          <a:lstStyle/>
          <a:p>
            <a:pPr indent="0" marL="0">
              <a:buNone/>
            </a:pPr>
            <a:r>
              <a:rPr lang="en-US" sz="1600" dirty="0">
                <a:solidFill>
                  <a:srgbClr val="000000"/>
                </a:solidFill>
              </a:rPr>
              <a:t>• Toyota generates high average video reach.</a:t>
            </a:r>
            <a:endParaRPr lang="en-US" sz="1600" dirty="0"/>
          </a:p>
        </p:txBody>
      </p:sp>
      <p:sp>
        <p:nvSpPr>
          <p:cNvPr id="8" name="Text 6"/>
          <p:cNvSpPr/>
          <p:nvPr/>
        </p:nvSpPr>
        <p:spPr>
          <a:xfrm>
            <a:off x="1097280" y="4663440"/>
            <a:ext cx="9144000" cy="0"/>
          </a:xfrm>
          <a:prstGeom prst="rect">
            <a:avLst/>
          </a:prstGeom>
          <a:noFill/>
          <a:ln/>
        </p:spPr>
        <p:txBody>
          <a:bodyPr wrap="square" rtlCol="0" anchor="ctr"/>
          <a:lstStyle/>
          <a:p>
            <a:pPr indent="0" marL="0">
              <a:buNone/>
            </a:pPr>
            <a:r>
              <a:rPr lang="en-US" sz="1600" dirty="0">
                <a:solidFill>
                  <a:srgbClr val="000000"/>
                </a:solidFill>
              </a:rPr>
              <a:t>• Toyota maintains a highly active content strategy.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9144000" cy="0"/>
          </a:xfrm>
          <a:prstGeom prst="rect">
            <a:avLst/>
          </a:prstGeom>
          <a:noFill/>
          <a:ln/>
        </p:spPr>
        <p:txBody>
          <a:bodyPr wrap="square" rtlCol="0" anchor="ctr"/>
          <a:lstStyle/>
          <a:p>
            <a:pPr indent="0" marL="0">
              <a:buNone/>
            </a:pPr>
            <a:r>
              <a:rPr lang="en-US" sz="2400" b="1" dirty="0">
                <a:solidFill>
                  <a:srgbClr val="000000"/>
                </a:solidFill>
              </a:rPr>
              <a:t>Toyota Top Videos</a:t>
            </a:r>
            <a:endParaRPr lang="en-US" sz="2400" dirty="0"/>
          </a:p>
        </p:txBody>
      </p:sp>
      <p:sp>
        <p:nvSpPr>
          <p:cNvPr id="3" name="Shape 1"/>
          <p:cNvSpPr/>
          <p:nvPr/>
        </p:nvSpPr>
        <p:spPr>
          <a:xfrm>
            <a:off x="640080" y="1371600"/>
            <a:ext cx="10058400" cy="731520"/>
          </a:xfrm>
          <a:prstGeom prst="roundRect">
            <a:avLst/>
          </a:prstGeom>
          <a:solidFill>
            <a:srgbClr val="EFF6FF"/>
          </a:solidFill>
          <a:ln/>
        </p:spPr>
      </p:sp>
      <p:sp>
        <p:nvSpPr>
          <p:cNvPr id="4" name="Text 2"/>
          <p:cNvSpPr/>
          <p:nvPr/>
        </p:nvSpPr>
        <p:spPr>
          <a:xfrm>
            <a:off x="914400" y="1463040"/>
            <a:ext cx="5486400" cy="0"/>
          </a:xfrm>
          <a:prstGeom prst="rect">
            <a:avLst/>
          </a:prstGeom>
          <a:noFill/>
          <a:ln/>
        </p:spPr>
        <p:txBody>
          <a:bodyPr wrap="square" rtlCol="0" anchor="ctr"/>
          <a:lstStyle/>
          <a:p>
            <a:pPr indent="0" marL="0">
              <a:buNone/>
            </a:pPr>
            <a:r>
              <a:rPr lang="en-US" sz="1400" b="1" dirty="0">
                <a:solidFill>
                  <a:srgbClr val="000000"/>
                </a:solidFill>
              </a:rPr>
              <a:t>1. Happier Paths Together</a:t>
            </a:r>
            <a:endParaRPr lang="en-US" sz="1400" dirty="0"/>
          </a:p>
        </p:txBody>
      </p:sp>
      <p:sp>
        <p:nvSpPr>
          <p:cNvPr id="5" name="Text 3"/>
          <p:cNvSpPr/>
          <p:nvPr/>
        </p:nvSpPr>
        <p:spPr>
          <a:xfrm>
            <a:off x="7315200" y="1554480"/>
            <a:ext cx="9144000" cy="0"/>
          </a:xfrm>
          <a:prstGeom prst="rect">
            <a:avLst/>
          </a:prstGeom>
          <a:noFill/>
          <a:ln/>
        </p:spPr>
        <p:txBody>
          <a:bodyPr wrap="square" rtlCol="0" anchor="ctr"/>
          <a:lstStyle/>
          <a:p>
            <a:pPr indent="0" marL="0">
              <a:buNone/>
            </a:pPr>
            <a:r>
              <a:rPr lang="en-US" sz="1400" dirty="0">
                <a:solidFill>
                  <a:srgbClr val="2563EB"/>
                </a:solidFill>
              </a:rPr>
              <a:t>2,19,75,425 views</a:t>
            </a:r>
            <a:endParaRPr lang="en-US" sz="1400" dirty="0"/>
          </a:p>
        </p:txBody>
      </p:sp>
      <p:sp>
        <p:nvSpPr>
          <p:cNvPr id="6" name="Shape 4"/>
          <p:cNvSpPr/>
          <p:nvPr/>
        </p:nvSpPr>
        <p:spPr>
          <a:xfrm>
            <a:off x="640080" y="2286000"/>
            <a:ext cx="10058400" cy="731520"/>
          </a:xfrm>
          <a:prstGeom prst="roundRect">
            <a:avLst/>
          </a:prstGeom>
          <a:solidFill>
            <a:srgbClr val="EFF6FF"/>
          </a:solidFill>
          <a:ln/>
        </p:spPr>
      </p:sp>
      <p:sp>
        <p:nvSpPr>
          <p:cNvPr id="7" name="Text 5"/>
          <p:cNvSpPr/>
          <p:nvPr/>
        </p:nvSpPr>
        <p:spPr>
          <a:xfrm>
            <a:off x="914400" y="2377440"/>
            <a:ext cx="5486400" cy="0"/>
          </a:xfrm>
          <a:prstGeom prst="rect">
            <a:avLst/>
          </a:prstGeom>
          <a:noFill/>
          <a:ln/>
        </p:spPr>
        <p:txBody>
          <a:bodyPr wrap="square" rtlCol="0" anchor="ctr"/>
          <a:lstStyle/>
          <a:p>
            <a:pPr indent="0" marL="0">
              <a:buNone/>
            </a:pPr>
            <a:r>
              <a:rPr lang="en-US" sz="1400" b="1" dirty="0">
                <a:solidFill>
                  <a:srgbClr val="000000"/>
                </a:solidFill>
              </a:rPr>
              <a:t>2. The Big Reveal | Live</a:t>
            </a:r>
            <a:endParaRPr lang="en-US" sz="1400" dirty="0"/>
          </a:p>
        </p:txBody>
      </p:sp>
      <p:sp>
        <p:nvSpPr>
          <p:cNvPr id="8" name="Text 6"/>
          <p:cNvSpPr/>
          <p:nvPr/>
        </p:nvSpPr>
        <p:spPr>
          <a:xfrm>
            <a:off x="7315200" y="2468880"/>
            <a:ext cx="9144000" cy="0"/>
          </a:xfrm>
          <a:prstGeom prst="rect">
            <a:avLst/>
          </a:prstGeom>
          <a:noFill/>
          <a:ln/>
        </p:spPr>
        <p:txBody>
          <a:bodyPr wrap="square" rtlCol="0" anchor="ctr"/>
          <a:lstStyle/>
          <a:p>
            <a:pPr indent="0" marL="0">
              <a:buNone/>
            </a:pPr>
            <a:r>
              <a:rPr lang="en-US" sz="1400" dirty="0">
                <a:solidFill>
                  <a:srgbClr val="2563EB"/>
                </a:solidFill>
              </a:rPr>
              <a:t>56,945 views</a:t>
            </a:r>
            <a:endParaRPr lang="en-US" sz="1400" dirty="0"/>
          </a:p>
        </p:txBody>
      </p:sp>
      <p:sp>
        <p:nvSpPr>
          <p:cNvPr id="9" name="Shape 7"/>
          <p:cNvSpPr/>
          <p:nvPr/>
        </p:nvSpPr>
        <p:spPr>
          <a:xfrm>
            <a:off x="640080" y="3200400"/>
            <a:ext cx="10058400" cy="731520"/>
          </a:xfrm>
          <a:prstGeom prst="roundRect">
            <a:avLst/>
          </a:prstGeom>
          <a:solidFill>
            <a:srgbClr val="EFF6FF"/>
          </a:solidFill>
          <a:ln/>
        </p:spPr>
      </p:sp>
      <p:sp>
        <p:nvSpPr>
          <p:cNvPr id="10" name="Text 8"/>
          <p:cNvSpPr/>
          <p:nvPr/>
        </p:nvSpPr>
        <p:spPr>
          <a:xfrm>
            <a:off x="914400" y="3291840"/>
            <a:ext cx="5486400" cy="0"/>
          </a:xfrm>
          <a:prstGeom prst="rect">
            <a:avLst/>
          </a:prstGeom>
          <a:noFill/>
          <a:ln/>
        </p:spPr>
        <p:txBody>
          <a:bodyPr wrap="square" rtlCol="0" anchor="ctr"/>
          <a:lstStyle/>
          <a:p>
            <a:pPr indent="0" marL="0">
              <a:buNone/>
            </a:pPr>
            <a:r>
              <a:rPr lang="en-US" sz="1400" b="1" dirty="0">
                <a:solidFill>
                  <a:srgbClr val="000000"/>
                </a:solidFill>
              </a:rPr>
              <a:t>3. ELEGANCE AT EVERY GLANCE</a:t>
            </a:r>
            <a:endParaRPr lang="en-US" sz="1400" dirty="0"/>
          </a:p>
        </p:txBody>
      </p:sp>
      <p:sp>
        <p:nvSpPr>
          <p:cNvPr id="11" name="Text 9"/>
          <p:cNvSpPr/>
          <p:nvPr/>
        </p:nvSpPr>
        <p:spPr>
          <a:xfrm>
            <a:off x="7315200" y="3383280"/>
            <a:ext cx="9144000" cy="0"/>
          </a:xfrm>
          <a:prstGeom prst="rect">
            <a:avLst/>
          </a:prstGeom>
          <a:noFill/>
          <a:ln/>
        </p:spPr>
        <p:txBody>
          <a:bodyPr wrap="square" rtlCol="0" anchor="ctr"/>
          <a:lstStyle/>
          <a:p>
            <a:pPr indent="0" marL="0">
              <a:buNone/>
            </a:pPr>
            <a:r>
              <a:rPr lang="en-US" sz="1400" dirty="0">
                <a:solidFill>
                  <a:srgbClr val="2563EB"/>
                </a:solidFill>
              </a:rPr>
              <a:t>34,323 views</a:t>
            </a:r>
            <a:endParaRPr lang="en-US" sz="1400" dirty="0"/>
          </a:p>
        </p:txBody>
      </p:sp>
      <p:sp>
        <p:nvSpPr>
          <p:cNvPr id="12" name="Shape 10"/>
          <p:cNvSpPr/>
          <p:nvPr/>
        </p:nvSpPr>
        <p:spPr>
          <a:xfrm>
            <a:off x="640080" y="4114800"/>
            <a:ext cx="10058400" cy="731520"/>
          </a:xfrm>
          <a:prstGeom prst="roundRect">
            <a:avLst/>
          </a:prstGeom>
          <a:solidFill>
            <a:srgbClr val="EFF6FF"/>
          </a:solidFill>
          <a:ln/>
        </p:spPr>
      </p:sp>
      <p:sp>
        <p:nvSpPr>
          <p:cNvPr id="13" name="Text 11"/>
          <p:cNvSpPr/>
          <p:nvPr/>
        </p:nvSpPr>
        <p:spPr>
          <a:xfrm>
            <a:off x="914400" y="4206240"/>
            <a:ext cx="5486400" cy="0"/>
          </a:xfrm>
          <a:prstGeom prst="rect">
            <a:avLst/>
          </a:prstGeom>
          <a:noFill/>
          <a:ln/>
        </p:spPr>
        <p:txBody>
          <a:bodyPr wrap="square" rtlCol="0" anchor="ctr"/>
          <a:lstStyle/>
          <a:p>
            <a:pPr indent="0" marL="0">
              <a:buNone/>
            </a:pPr>
            <a:r>
              <a:rPr lang="en-US" sz="1400" b="1" dirty="0">
                <a:solidFill>
                  <a:srgbClr val="000000"/>
                </a:solidFill>
              </a:rPr>
              <a:t>4. T-Shield | BS6 Technology AdBlue</a:t>
            </a:r>
            <a:endParaRPr lang="en-US" sz="1400" dirty="0"/>
          </a:p>
        </p:txBody>
      </p:sp>
      <p:sp>
        <p:nvSpPr>
          <p:cNvPr id="14" name="Text 12"/>
          <p:cNvSpPr/>
          <p:nvPr/>
        </p:nvSpPr>
        <p:spPr>
          <a:xfrm>
            <a:off x="7315200" y="4297680"/>
            <a:ext cx="9144000" cy="0"/>
          </a:xfrm>
          <a:prstGeom prst="rect">
            <a:avLst/>
          </a:prstGeom>
          <a:noFill/>
          <a:ln/>
        </p:spPr>
        <p:txBody>
          <a:bodyPr wrap="square" rtlCol="0" anchor="ctr"/>
          <a:lstStyle/>
          <a:p>
            <a:pPr indent="0" marL="0">
              <a:buNone/>
            </a:pPr>
            <a:r>
              <a:rPr lang="en-US" sz="1400" dirty="0">
                <a:solidFill>
                  <a:srgbClr val="2563EB"/>
                </a:solidFill>
              </a:rPr>
              <a:t>18,390 views</a:t>
            </a:r>
            <a:endParaRPr lang="en-US" sz="1400" dirty="0"/>
          </a:p>
        </p:txBody>
      </p:sp>
      <p:sp>
        <p:nvSpPr>
          <p:cNvPr id="15" name="Shape 13"/>
          <p:cNvSpPr/>
          <p:nvPr/>
        </p:nvSpPr>
        <p:spPr>
          <a:xfrm>
            <a:off x="640080" y="5029200"/>
            <a:ext cx="10058400" cy="731520"/>
          </a:xfrm>
          <a:prstGeom prst="roundRect">
            <a:avLst/>
          </a:prstGeom>
          <a:solidFill>
            <a:srgbClr val="EFF6FF"/>
          </a:solidFill>
          <a:ln/>
        </p:spPr>
      </p:sp>
      <p:sp>
        <p:nvSpPr>
          <p:cNvPr id="16" name="Text 14"/>
          <p:cNvSpPr/>
          <p:nvPr/>
        </p:nvSpPr>
        <p:spPr>
          <a:xfrm>
            <a:off x="914400" y="5120640"/>
            <a:ext cx="5486400" cy="0"/>
          </a:xfrm>
          <a:prstGeom prst="rect">
            <a:avLst/>
          </a:prstGeom>
          <a:noFill/>
          <a:ln/>
        </p:spPr>
        <p:txBody>
          <a:bodyPr wrap="square" rtlCol="0" anchor="ctr"/>
          <a:lstStyle/>
          <a:p>
            <a:pPr indent="0" marL="0">
              <a:buNone/>
            </a:pPr>
            <a:r>
              <a:rPr lang="en-US" sz="1400" b="1" dirty="0">
                <a:solidFill>
                  <a:srgbClr val="000000"/>
                </a:solidFill>
              </a:rPr>
              <a:t>5. T-Shield | Tyre Puncture Repair Kit</a:t>
            </a:r>
            <a:endParaRPr lang="en-US" sz="1400" dirty="0"/>
          </a:p>
        </p:txBody>
      </p:sp>
      <p:sp>
        <p:nvSpPr>
          <p:cNvPr id="17" name="Text 15"/>
          <p:cNvSpPr/>
          <p:nvPr/>
        </p:nvSpPr>
        <p:spPr>
          <a:xfrm>
            <a:off x="7315200" y="5212080"/>
            <a:ext cx="9144000" cy="0"/>
          </a:xfrm>
          <a:prstGeom prst="rect">
            <a:avLst/>
          </a:prstGeom>
          <a:noFill/>
          <a:ln/>
        </p:spPr>
        <p:txBody>
          <a:bodyPr wrap="square" rtlCol="0" anchor="ctr"/>
          <a:lstStyle/>
          <a:p>
            <a:pPr indent="0" marL="0">
              <a:buNone/>
            </a:pPr>
            <a:r>
              <a:rPr lang="en-US" sz="1400" dirty="0">
                <a:solidFill>
                  <a:srgbClr val="2563EB"/>
                </a:solidFill>
              </a:rPr>
              <a:t>17,198 views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9144000" cy="0"/>
          </a:xfrm>
          <a:prstGeom prst="rect">
            <a:avLst/>
          </a:prstGeom>
          <a:noFill/>
          <a:ln/>
        </p:spPr>
        <p:txBody>
          <a:bodyPr wrap="square" rtlCol="0" anchor="ctr"/>
          <a:lstStyle/>
          <a:p>
            <a:pPr indent="0" marL="0">
              <a:buNone/>
            </a:pPr>
            <a:r>
              <a:rPr lang="en-US" sz="2400" b="1" dirty="0">
                <a:solidFill>
                  <a:srgbClr val="000000"/>
                </a:solidFill>
              </a:rPr>
              <a:t>Video Marketing Recommendations</a:t>
            </a:r>
            <a:endParaRPr lang="en-US" sz="2400" dirty="0"/>
          </a:p>
        </p:txBody>
      </p:sp>
      <p:sp>
        <p:nvSpPr>
          <p:cNvPr id="3" name="Text 1"/>
          <p:cNvSpPr/>
          <p:nvPr/>
        </p:nvSpPr>
        <p:spPr>
          <a:xfrm>
            <a:off x="914400" y="1371600"/>
            <a:ext cx="9144000" cy="0"/>
          </a:xfrm>
          <a:prstGeom prst="rect">
            <a:avLst/>
          </a:prstGeom>
          <a:noFill/>
          <a:ln/>
        </p:spPr>
        <p:txBody>
          <a:bodyPr wrap="square" rtlCol="0" anchor="ctr"/>
          <a:lstStyle/>
          <a:p>
            <a:pPr indent="0" marL="0">
              <a:buNone/>
            </a:pPr>
            <a:r>
              <a:rPr lang="en-US" sz="1800" dirty="0">
                <a:solidFill>
                  <a:srgbClr val="000000"/>
                </a:solidFill>
              </a:rPr>
              <a:t>• Increase upload consistency to improve audience retention.</a:t>
            </a:r>
            <a:endParaRPr lang="en-US" sz="1800" dirty="0"/>
          </a:p>
        </p:txBody>
      </p:sp>
      <p:sp>
        <p:nvSpPr>
          <p:cNvPr id="4" name="Text 2"/>
          <p:cNvSpPr/>
          <p:nvPr/>
        </p:nvSpPr>
        <p:spPr>
          <a:xfrm>
            <a:off x="914400" y="2011680"/>
            <a:ext cx="9144000" cy="0"/>
          </a:xfrm>
          <a:prstGeom prst="rect">
            <a:avLst/>
          </a:prstGeom>
          <a:noFill/>
          <a:ln/>
        </p:spPr>
        <p:txBody>
          <a:bodyPr wrap="square" rtlCol="0" anchor="ctr"/>
          <a:lstStyle/>
          <a:p>
            <a:pPr indent="0" marL="0">
              <a:buNone/>
            </a:pPr>
            <a:r>
              <a:rPr lang="en-US" sz="1800" dirty="0">
                <a:solidFill>
                  <a:srgbClr val="000000"/>
                </a:solidFill>
              </a:rPr>
              <a:t>• Focus more on storytelling and product demo content.</a:t>
            </a:r>
            <a:endParaRPr lang="en-US" sz="1800" dirty="0"/>
          </a:p>
        </p:txBody>
      </p:sp>
      <p:sp>
        <p:nvSpPr>
          <p:cNvPr id="5" name="Text 3"/>
          <p:cNvSpPr/>
          <p:nvPr/>
        </p:nvSpPr>
        <p:spPr>
          <a:xfrm>
            <a:off x="914400" y="2651760"/>
            <a:ext cx="9144000" cy="0"/>
          </a:xfrm>
          <a:prstGeom prst="rect">
            <a:avLst/>
          </a:prstGeom>
          <a:noFill/>
          <a:ln/>
        </p:spPr>
        <p:txBody>
          <a:bodyPr wrap="square" rtlCol="0" anchor="ctr"/>
          <a:lstStyle/>
          <a:p>
            <a:pPr indent="0" marL="0">
              <a:buNone/>
            </a:pPr>
            <a:r>
              <a:rPr lang="en-US" sz="1800" dirty="0">
                <a:solidFill>
                  <a:srgbClr val="000000"/>
                </a:solidFill>
              </a:rPr>
              <a:t>• Use YouTube Shorts to improve discoverability.</a:t>
            </a:r>
            <a:endParaRPr lang="en-US" sz="1800" dirty="0"/>
          </a:p>
        </p:txBody>
      </p:sp>
      <p:sp>
        <p:nvSpPr>
          <p:cNvPr id="6" name="Text 4"/>
          <p:cNvSpPr/>
          <p:nvPr/>
        </p:nvSpPr>
        <p:spPr>
          <a:xfrm>
            <a:off x="914400" y="3291840"/>
            <a:ext cx="9144000" cy="0"/>
          </a:xfrm>
          <a:prstGeom prst="rect">
            <a:avLst/>
          </a:prstGeom>
          <a:noFill/>
          <a:ln/>
        </p:spPr>
        <p:txBody>
          <a:bodyPr wrap="square" rtlCol="0" anchor="ctr"/>
          <a:lstStyle/>
          <a:p>
            <a:pPr indent="0" marL="0">
              <a:buNone/>
            </a:pPr>
            <a:r>
              <a:rPr lang="en-US" sz="1800" dirty="0">
                <a:solidFill>
                  <a:srgbClr val="000000"/>
                </a:solidFill>
              </a:rPr>
              <a:t>• Improve audience interaction through comments and CTAs.</a:t>
            </a:r>
            <a:endParaRPr lang="en-US" sz="1800" dirty="0"/>
          </a:p>
        </p:txBody>
      </p:sp>
      <p:sp>
        <p:nvSpPr>
          <p:cNvPr id="7" name="Text 5"/>
          <p:cNvSpPr/>
          <p:nvPr/>
        </p:nvSpPr>
        <p:spPr>
          <a:xfrm>
            <a:off x="914400" y="3931920"/>
            <a:ext cx="9144000" cy="0"/>
          </a:xfrm>
          <a:prstGeom prst="rect">
            <a:avLst/>
          </a:prstGeom>
          <a:noFill/>
          <a:ln/>
        </p:spPr>
        <p:txBody>
          <a:bodyPr wrap="square" rtlCol="0" anchor="ctr"/>
          <a:lstStyle/>
          <a:p>
            <a:pPr indent="0" marL="0">
              <a:buNone/>
            </a:pPr>
            <a:r>
              <a:rPr lang="en-US" sz="1800" dirty="0">
                <a:solidFill>
                  <a:srgbClr val="000000"/>
                </a:solidFill>
              </a:rPr>
              <a:t>• Analyze competitor content gaps regularly.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MyPromoVideo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Competitor Intelligence Report</dc:title>
  <dc:subject>Video Competitor Intelligence</dc:subject>
  <dc:creator>Harshini</dc:creator>
  <cp:lastModifiedBy>Harshini</cp:lastModifiedBy>
  <cp:revision>1</cp:revision>
  <dcterms:created xsi:type="dcterms:W3CDTF">2026-05-19T16:25:30Z</dcterms:created>
  <dcterms:modified xsi:type="dcterms:W3CDTF">2026-05-19T16:25:30Z</dcterms:modified>
</cp:coreProperties>
</file>